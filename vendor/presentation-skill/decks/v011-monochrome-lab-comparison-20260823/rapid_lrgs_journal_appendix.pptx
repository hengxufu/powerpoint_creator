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GIAB benchmark (%)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25252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1111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15A7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2525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SNV precision</c:v>
                  </c:pt>
                  <c:pt idx="1">
                    <c:v>SNV recall</c:v>
                  </c:pt>
                  <c:pt idx="2">
                    <c:v>Indel precision</c:v>
                  </c:pt>
                  <c:pt idx="3">
                    <c:v>Indel recall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99.7</c:v>
                </c:pt>
                <c:pt idx="1">
                  <c:v>99.2</c:v>
                </c:pt>
                <c:pt idx="2">
                  <c:v>92.2</c:v>
                </c:pt>
                <c:pt idx="3">
                  <c:v>83.8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525252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2525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25252"/>
                </a:solidFill>
                <a:latin typeface="Georg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52525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25252"/>
                </a:solidFill>
                <a:latin typeface="Georgi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SNV F1 (%)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25252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40x</c:v>
                  </c:pt>
                  <c:pt idx="1">
                    <c:v>80x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99.5</c:v>
                </c:pt>
                <c:pt idx="1">
                  <c:v>99.2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Indel F1 (%)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25252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40x</c:v>
                  </c:pt>
                  <c:pt idx="1">
                    <c:v>80x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92.5</c:v>
                </c:pt>
                <c:pt idx="1">
                  <c:v>94.1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525252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2525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25252"/>
                </a:solidFill>
                <a:latin typeface="Georg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52525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25252"/>
                </a:solidFill>
                <a:latin typeface="Georgi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52525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Diagnostic yield (%)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25252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1111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Thailand</c:v>
                  </c:pt>
                  <c:pt idx="1">
                    <c:v>Netherlands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</c:v>
                </c:pt>
                <c:pt idx="1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525252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2525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25252"/>
                </a:solidFill>
                <a:latin typeface="Georg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52525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25252"/>
                </a:solidFill>
                <a:latin typeface="Georgi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Reported days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25252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1111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15A7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Thailand LR-GS</c:v>
                  </c:pt>
                  <c:pt idx="1">
                    <c:v>NL LR-GS</c:v>
                  </c:pt>
                  <c:pt idx="2">
                    <c:v>NL standard care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5.3</c:v>
                </c:pt>
                <c:pt idx="2">
                  <c:v>18.4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525252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2525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25252"/>
                </a:solidFill>
                <a:latin typeface="Georg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52525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25252"/>
                </a:solidFill>
                <a:latin typeface="Georgi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09728"/>
            <a:ext cx="8266176" cy="1280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164592"/>
            <a:ext cx="1225296" cy="25603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950976"/>
            <a:ext cx="16459" cy="5230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0768" y="4722876"/>
            <a:ext cx="274320" cy="16459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6" name="metadata:title-kicker"/>
          <p:cNvSpPr txBox="1"/>
          <p:nvPr/>
        </p:nvSpPr>
        <p:spPr>
          <a:xfrm>
            <a:off x="731520" y="9052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TRANSLATIONAL GENOMICS REVIEW</a:t>
            </a:r>
            <a:endParaRPr lang="en-US" sz="900" dirty="0"/>
          </a:p>
        </p:txBody>
      </p:sp>
      <p:sp>
        <p:nvSpPr>
          <p:cNvPr id="7" name="decorative:role-contract-accent:title:heading"/>
          <p:cNvSpPr/>
          <p:nvPr/>
        </p:nvSpPr>
        <p:spPr>
          <a:xfrm>
            <a:off x="731520" y="1124712"/>
            <a:ext cx="1020470" cy="411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slide-title:title"/>
          <p:cNvSpPr txBox="1"/>
          <p:nvPr/>
        </p:nvSpPr>
        <p:spPr>
          <a:xfrm>
            <a:off x="731520" y="1234440"/>
            <a:ext cx="566928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Rapid Genomics for ICU Care</a:t>
            </a:r>
            <a:endParaRPr lang="en-US" sz="4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94710"/>
            <a:ext cx="4389120" cy="875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three recent nanopore long-read studies show about analytical validity, turnaround time, and clinical utility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Three-study evidence synthesis | August 2026</a:t>
            </a:r>
            <a:endParaRPr lang="en-US" sz="900" dirty="0"/>
          </a:p>
        </p:txBody>
      </p:sp>
      <p:sp>
        <p:nvSpPr>
          <p:cNvPr id="12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1/12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09728"/>
            <a:ext cx="8266176" cy="1280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164592"/>
            <a:ext cx="1225296" cy="25603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950976"/>
            <a:ext cx="16459" cy="5230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0768" y="4722876"/>
            <a:ext cx="274320" cy="16459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0584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evidence now spans benchmark validity and frontline use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50292"/>
            <a:ext cx="8229600" cy="20117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70409"/>
            <a:ext cx="8229600" cy="82296"/>
          </a:xfrm>
          <a:prstGeom prst="rect">
            <a:avLst/>
          </a:prstGeom>
          <a:solidFill>
            <a:srgbClr val="D9D9D9">
              <a:alpha val="26000"/>
            </a:srgbClr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60704"/>
            <a:ext cx="8229600" cy="1280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role-contract-slot:evidence:0"/>
          <p:cNvSpPr/>
          <p:nvPr/>
        </p:nvSpPr>
        <p:spPr>
          <a:xfrm>
            <a:off x="457200" y="1353312"/>
            <a:ext cx="4023360" cy="1538478"/>
          </a:xfrm>
          <a:prstGeom prst="rect">
            <a:avLst/>
          </a:prstGeom>
          <a:solidFill>
            <a:srgbClr val="202020"/>
          </a:solidFill>
          <a:ln w="7620">
            <a:solidFill>
              <a:srgbClr val="202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353312"/>
            <a:ext cx="54864" cy="153847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1463040"/>
            <a:ext cx="1005840" cy="1319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719072" y="1810131"/>
            <a:ext cx="1168603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studies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52267" y="1806321"/>
            <a:ext cx="1263701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Published 2024-2025</a:t>
            </a:r>
            <a:endParaRPr lang="en-US" sz="1500" dirty="0"/>
          </a:p>
        </p:txBody>
      </p:sp>
      <p:sp>
        <p:nvSpPr>
          <p:cNvPr id="15" name="role-contract-slot:evidence:1"/>
          <p:cNvSpPr/>
          <p:nvPr/>
        </p:nvSpPr>
        <p:spPr>
          <a:xfrm>
            <a:off x="4663440" y="1353312"/>
            <a:ext cx="4023360" cy="1538478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353312"/>
            <a:ext cx="54864" cy="1538478"/>
          </a:xfrm>
          <a:prstGeom prst="rect">
            <a:avLst/>
          </a:prstGeom>
          <a:solidFill>
            <a:srgbClr val="315A74"/>
          </a:solidFill>
          <a:ln w="12700">
            <a:solidFill>
              <a:srgbClr val="315A7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28032" y="1463040"/>
            <a:ext cx="1005840" cy="1319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15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925312" y="1810131"/>
            <a:ext cx="1168603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 genomes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258507" y="1693926"/>
            <a:ext cx="126370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GIAB analytical validation</a:t>
            </a:r>
            <a:endParaRPr lang="en-US" sz="1500" dirty="0"/>
          </a:p>
        </p:txBody>
      </p:sp>
      <p:sp>
        <p:nvSpPr>
          <p:cNvPr id="20" name="role-contract-slot:evidence:2"/>
          <p:cNvSpPr/>
          <p:nvPr/>
        </p:nvSpPr>
        <p:spPr>
          <a:xfrm>
            <a:off x="457200" y="3038094"/>
            <a:ext cx="4023360" cy="1538478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038094"/>
            <a:ext cx="54864" cy="153847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3147822"/>
            <a:ext cx="1005840" cy="1319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719072" y="3494913"/>
            <a:ext cx="1168603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trios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052267" y="3378708"/>
            <a:ext cx="126370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Prospective workflow validation</a:t>
            </a:r>
            <a:endParaRPr lang="en-US" sz="1500" dirty="0"/>
          </a:p>
        </p:txBody>
      </p:sp>
      <p:sp>
        <p:nvSpPr>
          <p:cNvPr id="25" name="role-contract-slot:evidence:3"/>
          <p:cNvSpPr/>
          <p:nvPr/>
        </p:nvSpPr>
        <p:spPr>
          <a:xfrm>
            <a:off x="4663440" y="3038094"/>
            <a:ext cx="4023360" cy="1538478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038094"/>
            <a:ext cx="54864" cy="1538478"/>
          </a:xfrm>
          <a:prstGeom prst="rect">
            <a:avLst/>
          </a:prstGeom>
          <a:solidFill>
            <a:srgbClr val="315A74"/>
          </a:solidFill>
          <a:ln w="12700">
            <a:solidFill>
              <a:srgbClr val="315A7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28032" y="3147822"/>
            <a:ext cx="1005840" cy="1319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15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5925312" y="3494913"/>
            <a:ext cx="1168603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ICU participants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258507" y="3153918"/>
            <a:ext cx="1263701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implementation cohorts; outcomes kept separate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Sources: S1; S2; S3</a:t>
            </a:r>
            <a:endParaRPr lang="en-US" sz="900" dirty="0"/>
          </a:p>
        </p:txBody>
      </p:sp>
      <p:sp>
        <p:nvSpPr>
          <p:cNvPr id="32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2/12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09728"/>
            <a:ext cx="8266176" cy="1280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164592"/>
            <a:ext cx="1225296" cy="25603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950976"/>
            <a:ext cx="16459" cy="5230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0768" y="4722876"/>
            <a:ext cx="274320" cy="16459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0584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assay links specimen, genome, methylome, and interpretation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50292"/>
            <a:ext cx="8229600" cy="20117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70409"/>
            <a:ext cx="8229600" cy="82296"/>
          </a:xfrm>
          <a:prstGeom prst="rect">
            <a:avLst/>
          </a:prstGeom>
          <a:solidFill>
            <a:srgbClr val="D9D9D9">
              <a:alpha val="26000"/>
            </a:srgbClr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60704"/>
            <a:ext cx="8229600" cy="1280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role-contract-slot:evidence:timeline-0"/>
          <p:cNvSpPr/>
          <p:nvPr/>
        </p:nvSpPr>
        <p:spPr>
          <a:xfrm>
            <a:off x="457200" y="2090547"/>
            <a:ext cx="8229600" cy="0"/>
          </a:xfrm>
          <a:prstGeom prst="line">
            <a:avLst/>
          </a:prstGeom>
          <a:noFill/>
          <a:ln w="8890">
            <a:solidFill>
              <a:srgbClr val="D9D9D9"/>
            </a:solidFill>
            <a:prstDash val="solid"/>
          </a:ln>
        </p:spPr>
      </p:sp>
      <p:sp>
        <p:nvSpPr>
          <p:cNvPr id="11" name="decorative:timeline-marker:0"/>
          <p:cNvSpPr/>
          <p:nvPr/>
        </p:nvSpPr>
        <p:spPr>
          <a:xfrm>
            <a:off x="457200" y="1639634"/>
            <a:ext cx="164592" cy="164592"/>
          </a:xfrm>
          <a:prstGeom prst="ellipse">
            <a:avLst/>
          </a:prstGeom>
          <a:solidFill>
            <a:srgbClr val="111111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2" name="metadata:timeline-label-0"/>
          <p:cNvSpPr txBox="1"/>
          <p:nvPr/>
        </p:nvSpPr>
        <p:spPr>
          <a:xfrm>
            <a:off x="731520" y="1426464"/>
            <a:ext cx="886968" cy="5909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/ PREP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1408176"/>
            <a:ext cx="1746504" cy="6275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 native DNA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67328" y="1408176"/>
            <a:ext cx="4754880" cy="6275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Preserve long molecules and native methylation signal.</a:t>
            </a:r>
            <a:endParaRPr lang="en-US" sz="1600" dirty="0"/>
          </a:p>
        </p:txBody>
      </p:sp>
      <p:sp>
        <p:nvSpPr>
          <p:cNvPr id="15" name="role-contract-slot:evidence:timeline-1"/>
          <p:cNvSpPr/>
          <p:nvPr/>
        </p:nvSpPr>
        <p:spPr>
          <a:xfrm>
            <a:off x="457200" y="2919222"/>
            <a:ext cx="8229600" cy="0"/>
          </a:xfrm>
          <a:prstGeom prst="line">
            <a:avLst/>
          </a:prstGeom>
          <a:noFill/>
          <a:ln w="8890">
            <a:solidFill>
              <a:srgbClr val="D9D9D9"/>
            </a:solidFill>
            <a:prstDash val="solid"/>
          </a:ln>
        </p:spPr>
      </p:sp>
      <p:sp>
        <p:nvSpPr>
          <p:cNvPr id="16" name="decorative:timeline-marker:1"/>
          <p:cNvSpPr/>
          <p:nvPr/>
        </p:nvSpPr>
        <p:spPr>
          <a:xfrm>
            <a:off x="457200" y="2468309"/>
            <a:ext cx="164592" cy="164592"/>
          </a:xfrm>
          <a:prstGeom prst="ellipse">
            <a:avLst/>
          </a:prstGeom>
          <a:solidFill>
            <a:srgbClr val="315A74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7" name="metadata:timeline-label-1"/>
          <p:cNvSpPr txBox="1"/>
          <p:nvPr/>
        </p:nvSpPr>
        <p:spPr>
          <a:xfrm>
            <a:off x="731520" y="2255139"/>
            <a:ext cx="886968" cy="5909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15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/ READ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2236851"/>
            <a:ext cx="1746504" cy="6275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 in real time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767328" y="2236851"/>
            <a:ext cx="4754880" cy="6275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Nanopore reads accumulate while coverage is monitored.</a:t>
            </a:r>
            <a:endParaRPr lang="en-US" sz="1600" dirty="0"/>
          </a:p>
        </p:txBody>
      </p:sp>
      <p:sp>
        <p:nvSpPr>
          <p:cNvPr id="20" name="role-contract-slot:evidence:timeline-2"/>
          <p:cNvSpPr/>
          <p:nvPr/>
        </p:nvSpPr>
        <p:spPr>
          <a:xfrm>
            <a:off x="457200" y="3747897"/>
            <a:ext cx="8229600" cy="0"/>
          </a:xfrm>
          <a:prstGeom prst="line">
            <a:avLst/>
          </a:prstGeom>
          <a:noFill/>
          <a:ln w="8890">
            <a:solidFill>
              <a:srgbClr val="D9D9D9"/>
            </a:solidFill>
            <a:prstDash val="solid"/>
          </a:ln>
        </p:spPr>
      </p:sp>
      <p:sp>
        <p:nvSpPr>
          <p:cNvPr id="21" name="decorative:timeline-marker:2"/>
          <p:cNvSpPr/>
          <p:nvPr/>
        </p:nvSpPr>
        <p:spPr>
          <a:xfrm>
            <a:off x="457200" y="3296984"/>
            <a:ext cx="164592" cy="164592"/>
          </a:xfrm>
          <a:prstGeom prst="ellipse">
            <a:avLst/>
          </a:prstGeom>
          <a:solidFill>
            <a:srgbClr val="111111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2" name="metadata:timeline-label-2"/>
          <p:cNvSpPr txBox="1"/>
          <p:nvPr/>
        </p:nvSpPr>
        <p:spPr>
          <a:xfrm>
            <a:off x="731520" y="3083814"/>
            <a:ext cx="886968" cy="5909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/ CALL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3065526"/>
            <a:ext cx="1746504" cy="6275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 variant classes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767328" y="3065526"/>
            <a:ext cx="4754880" cy="6275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SNVs, indels, SVs, CNVs, repeats, and methylation share one dataset.</a:t>
            </a:r>
            <a:endParaRPr lang="en-US" sz="1600" dirty="0"/>
          </a:p>
        </p:txBody>
      </p:sp>
      <p:sp>
        <p:nvSpPr>
          <p:cNvPr id="25" name="role-contract-slot:evidence:timeline-3"/>
          <p:cNvSpPr/>
          <p:nvPr/>
        </p:nvSpPr>
        <p:spPr>
          <a:xfrm>
            <a:off x="457200" y="4576572"/>
            <a:ext cx="8229600" cy="0"/>
          </a:xfrm>
          <a:prstGeom prst="line">
            <a:avLst/>
          </a:prstGeom>
          <a:noFill/>
          <a:ln w="8890">
            <a:solidFill>
              <a:srgbClr val="D9D9D9"/>
            </a:solidFill>
            <a:prstDash val="solid"/>
          </a:ln>
        </p:spPr>
      </p:sp>
      <p:sp>
        <p:nvSpPr>
          <p:cNvPr id="26" name="decorative:timeline-marker:3"/>
          <p:cNvSpPr/>
          <p:nvPr/>
        </p:nvSpPr>
        <p:spPr>
          <a:xfrm>
            <a:off x="457200" y="4125659"/>
            <a:ext cx="164592" cy="164592"/>
          </a:xfrm>
          <a:prstGeom prst="ellipse">
            <a:avLst/>
          </a:prstGeom>
          <a:solidFill>
            <a:srgbClr val="315A74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7" name="metadata:timeline-label-3"/>
          <p:cNvSpPr txBox="1"/>
          <p:nvPr/>
        </p:nvSpPr>
        <p:spPr>
          <a:xfrm>
            <a:off x="731520" y="3912489"/>
            <a:ext cx="886968" cy="5909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15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/ INTERPRET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691640" y="3894201"/>
            <a:ext cx="1746504" cy="6275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and report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767328" y="3894201"/>
            <a:ext cx="4754880" cy="6275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Read-backed phasing and phenotype review connect findings to urgent care.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Sources: S1; S2; S3</a:t>
            </a:r>
            <a:endParaRPr lang="en-US" sz="900" dirty="0"/>
          </a:p>
        </p:txBody>
      </p:sp>
      <p:sp>
        <p:nvSpPr>
          <p:cNvPr id="32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3/12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09728"/>
            <a:ext cx="8266176" cy="1280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164592"/>
            <a:ext cx="1225296" cy="25603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950976"/>
            <a:ext cx="16459" cy="5230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0768" y="4722876"/>
            <a:ext cx="274320" cy="16459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0584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variants were accurate; indels remain the harder class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114800" cy="274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0016" y="1060704"/>
            <a:ext cx="3986784" cy="1280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53312"/>
            <a:ext cx="8229600" cy="1961388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</p:sp>
      <p:graphicFrame>
        <p:nvGraphicFramePr>
          <p:cNvPr id="10" name="Editable chart: Small variants were accurate; indels remain the harder class" descr="Editable bar chart for Small variants were accurate; indels remain the harder class."/>
          <p:cNvGraphicFramePr/>
          <p:nvPr/>
        </p:nvGraphicFramePr>
        <p:xfrm>
          <a:off x="566928" y="1444752"/>
          <a:ext cx="8010144" cy="17785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389120" y="3589020"/>
            <a:ext cx="4297680" cy="1024128"/>
          </a:xfrm>
          <a:prstGeom prst="rect">
            <a:avLst/>
          </a:prstGeom>
          <a:solidFill>
            <a:srgbClr val="FFFFFF"/>
          </a:solidFill>
          <a:ln w="6985">
            <a:solidFill>
              <a:srgbClr val="D9D9D9"/>
            </a:solidFill>
            <a:prstDash val="solid"/>
          </a:ln>
        </p:spPr>
      </p:sp>
      <p:sp>
        <p:nvSpPr>
          <p:cNvPr id="12" name="metadata:chart-readout-label"/>
          <p:cNvSpPr txBox="1"/>
          <p:nvPr/>
        </p:nvSpPr>
        <p:spPr>
          <a:xfrm>
            <a:off x="4498848" y="39456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READOUT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157216" y="386334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16/16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961888" y="3806952"/>
            <a:ext cx="261518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pathogenic CNVs detected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57200" y="3589020"/>
            <a:ext cx="36576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6" name="support:chart-register"/>
          <p:cNvSpPr txBox="1"/>
          <p:nvPr/>
        </p:nvSpPr>
        <p:spPr>
          <a:xfrm>
            <a:off x="548640" y="3699129"/>
            <a:ext cx="3474720" cy="8039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Genome in a Bottle reference samples; values are precision and recall reported by Nyaga et al.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Sources: S1</a:t>
            </a:r>
            <a:endParaRPr lang="en-US" sz="900" dirty="0"/>
          </a:p>
        </p:txBody>
      </p:sp>
      <p:sp>
        <p:nvSpPr>
          <p:cNvPr id="19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4/12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09728"/>
            <a:ext cx="8266176" cy="1280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164592"/>
            <a:ext cx="1225296" cy="25603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950976"/>
            <a:ext cx="16459" cy="5230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0768" y="4722876"/>
            <a:ext cx="274320" cy="16459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Doubling coverage helped indels more than SNVs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757123"/>
            <a:ext cx="2377440" cy="3109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44368" y="768096"/>
            <a:ext cx="5742432" cy="1280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60704"/>
            <a:ext cx="8229600" cy="2253996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</p:sp>
      <p:graphicFrame>
        <p:nvGraphicFramePr>
          <p:cNvPr id="10" name="Editable chart: Doubling coverage helped indels more than SNVs" descr="Editable bar chart for Doubling coverage helped indels more than SNVs."/>
          <p:cNvGraphicFramePr/>
          <p:nvPr/>
        </p:nvGraphicFramePr>
        <p:xfrm>
          <a:off x="566928" y="1152144"/>
          <a:ext cx="8010144" cy="20711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389120" y="3589020"/>
            <a:ext cx="4297680" cy="1024128"/>
          </a:xfrm>
          <a:prstGeom prst="rect">
            <a:avLst/>
          </a:prstGeom>
          <a:solidFill>
            <a:srgbClr val="FFFFFF"/>
          </a:solidFill>
          <a:ln w="6985">
            <a:solidFill>
              <a:srgbClr val="D9D9D9"/>
            </a:solidFill>
            <a:prstDash val="solid"/>
          </a:ln>
        </p:spPr>
      </p:sp>
      <p:sp>
        <p:nvSpPr>
          <p:cNvPr id="12" name="metadata:chart-readout-label"/>
          <p:cNvSpPr txBox="1"/>
          <p:nvPr/>
        </p:nvSpPr>
        <p:spPr>
          <a:xfrm>
            <a:off x="4498848" y="39456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READOUT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157216" y="386334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1.6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961888" y="3917442"/>
            <a:ext cx="2615184" cy="3672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indel F1 point gain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57200" y="3589020"/>
            <a:ext cx="36576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6" name="support:chart-register"/>
          <p:cNvSpPr txBox="1"/>
          <p:nvPr/>
        </p:nvSpPr>
        <p:spPr>
          <a:xfrm>
            <a:off x="548640" y="36438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higher sequencing target should be justified by the variant classes and turnaround constraint, not by SNV performance alone.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Sources: S1</a:t>
            </a:r>
            <a:endParaRPr lang="en-US" sz="900" dirty="0"/>
          </a:p>
        </p:txBody>
      </p:sp>
      <p:sp>
        <p:nvSpPr>
          <p:cNvPr id="19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09728"/>
            <a:ext cx="8266176" cy="1280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164592"/>
            <a:ext cx="1225296" cy="25603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950976"/>
            <a:ext cx="16459" cy="5230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0768" y="4722876"/>
            <a:ext cx="274320" cy="16459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studies answer different questions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757123"/>
            <a:ext cx="2377440" cy="3109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44368" y="768096"/>
            <a:ext cx="5742432" cy="1280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29968"/>
          <a:ext cx="8229600" cy="2583180"/>
        </p:xfrm>
        <a:graphic>
          <a:graphicData uri="http://schemas.openxmlformats.org/drawingml/2006/table">
            <a:tbl>
              <a:tblPr/>
              <a:tblGrid>
                <a:gridCol w="1075765"/>
                <a:gridCol w="1075765"/>
                <a:gridCol w="1936376"/>
                <a:gridCol w="591671"/>
                <a:gridCol w="1398494"/>
                <a:gridCol w="2151529"/>
              </a:tblGrid>
              <a:tr h="6457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Study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Setting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Design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Reported TAT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Primary contribution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02020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Nyaga 2024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Australia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Benchmark + prospective trios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 + 14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~5 working days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Analytical validity across variant classes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Kamolvisit 2025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Thailand, 2 ICUs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Prospective singleton rLR-GS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18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9 days, median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First-tier diagnosis and management change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Smits 2025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Netherlands ICUs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LR-GS alongside standard care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26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5.3 vs 18.4 days, mean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Concurrent TAT and care-impact comparison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382512" y="1060704"/>
            <a:ext cx="2304288" cy="713232"/>
          </a:xfrm>
          <a:prstGeom prst="rect">
            <a:avLst/>
          </a:prstGeom>
          <a:solidFill>
            <a:srgbClr val="FFFFFF"/>
          </a:solidFill>
          <a:ln w="6985">
            <a:solidFill>
              <a:srgbClr val="D9D9D9"/>
            </a:solidFill>
            <a:prstDash val="solid"/>
          </a:ln>
        </p:spPr>
      </p:sp>
      <p:sp>
        <p:nvSpPr>
          <p:cNvPr id="11" name="metadata:table-index-label"/>
          <p:cNvSpPr txBox="1"/>
          <p:nvPr/>
        </p:nvSpPr>
        <p:spPr>
          <a:xfrm>
            <a:off x="6492240" y="12618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INDEX</a:t>
            </a:r>
            <a:endParaRPr lang="en-US" sz="900" dirty="0"/>
          </a:p>
        </p:txBody>
      </p:sp>
      <p:sp>
        <p:nvSpPr>
          <p:cNvPr id="12" name="metadata:table-index-detail"/>
          <p:cNvSpPr txBox="1"/>
          <p:nvPr/>
        </p:nvSpPr>
        <p:spPr>
          <a:xfrm>
            <a:off x="7315200" y="1152144"/>
            <a:ext cx="1261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rows  |  Study · Setting · Design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1060704"/>
            <a:ext cx="5669280" cy="713232"/>
          </a:xfrm>
          <a:prstGeom prst="rect">
            <a:avLst/>
          </a:prstGeom>
          <a:solidFill>
            <a:srgbClr val="FFFFFF"/>
          </a:solidFill>
          <a:ln w="8255">
            <a:solidFill>
              <a:srgbClr val="D9D9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1060704"/>
            <a:ext cx="64008" cy="713232"/>
          </a:xfrm>
          <a:prstGeom prst="rect">
            <a:avLst/>
          </a:prstGeom>
          <a:solidFill>
            <a:srgbClr val="315A74"/>
          </a:solidFill>
          <a:ln w="12700">
            <a:solidFill>
              <a:srgbClr val="315A74"/>
            </a:solidFill>
            <a:prstDash val="solid"/>
          </a:ln>
        </p:spPr>
      </p:sp>
      <p:sp>
        <p:nvSpPr>
          <p:cNvPr id="15" name="metadata:table-readout-label"/>
          <p:cNvSpPr txBox="1"/>
          <p:nvPr/>
        </p:nvSpPr>
        <p:spPr>
          <a:xfrm>
            <a:off x="621792" y="1261872"/>
            <a:ext cx="1020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READOUT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697126" y="1115568"/>
            <a:ext cx="424647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study-specific signals; do not pool the diagnostic yields.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Sources: S1; S2; S3</a:t>
            </a:r>
            <a:endParaRPr lang="en-US" sz="900" dirty="0"/>
          </a:p>
        </p:txBody>
      </p:sp>
      <p:sp>
        <p:nvSpPr>
          <p:cNvPr id="19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6/12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09728"/>
            <a:ext cx="8266176" cy="1280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164592"/>
            <a:ext cx="1225296" cy="25603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950976"/>
            <a:ext cx="16459" cy="5230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0768" y="4722876"/>
            <a:ext cx="274320" cy="16459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0584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ICU cohorts found diagnoses, with context-dependent yield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8229600" cy="1961388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</p:sp>
      <p:graphicFrame>
        <p:nvGraphicFramePr>
          <p:cNvPr id="8" name="Editable chart: Both ICU cohorts found diagnoses, with context-dependent yield" descr="Editable bar chart for Both ICU cohorts found diagnoses, with context-dependent yield."/>
          <p:cNvGraphicFramePr/>
          <p:nvPr/>
        </p:nvGraphicFramePr>
        <p:xfrm>
          <a:off x="566928" y="1444752"/>
          <a:ext cx="8010144" cy="17785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389120" y="3589020"/>
            <a:ext cx="4297680" cy="1024128"/>
          </a:xfrm>
          <a:prstGeom prst="rect">
            <a:avLst/>
          </a:prstGeom>
          <a:solidFill>
            <a:srgbClr val="FFFFFF"/>
          </a:solidFill>
          <a:ln w="6985">
            <a:solidFill>
              <a:srgbClr val="D9D9D9"/>
            </a:solidFill>
            <a:prstDash val="solid"/>
          </a:ln>
        </p:spPr>
      </p:sp>
      <p:sp>
        <p:nvSpPr>
          <p:cNvPr id="10" name="metadata:chart-readout-label"/>
          <p:cNvSpPr txBox="1"/>
          <p:nvPr/>
        </p:nvSpPr>
        <p:spPr>
          <a:xfrm>
            <a:off x="4498848" y="39456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READOUT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5157216" y="386334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11/18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961888" y="3917442"/>
            <a:ext cx="2615184" cy="3672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Thailand diagnosed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3589020"/>
            <a:ext cx="36576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4" name="support:chart-register"/>
          <p:cNvSpPr txBox="1"/>
          <p:nvPr/>
        </p:nvSpPr>
        <p:spPr>
          <a:xfrm>
            <a:off x="548640" y="36438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Descriptive comparison only. Referral, case mix, family structure, analysis, and diagnostic criteria differed.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Sources: S2; S3</a:t>
            </a:r>
            <a:endParaRPr lang="en-US" sz="900" dirty="0"/>
          </a:p>
        </p:txBody>
      </p:sp>
      <p:sp>
        <p:nvSpPr>
          <p:cNvPr id="17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7/12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09728"/>
            <a:ext cx="8266176" cy="1280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164592"/>
            <a:ext cx="1225296" cy="25603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950976"/>
            <a:ext cx="16459" cy="5230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0768" y="4722876"/>
            <a:ext cx="274320" cy="16459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Turnaround was the clearest comparative gain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50292"/>
            <a:ext cx="8229600" cy="20117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70409"/>
            <a:ext cx="8229600" cy="82296"/>
          </a:xfrm>
          <a:prstGeom prst="rect">
            <a:avLst/>
          </a:prstGeom>
          <a:solidFill>
            <a:srgbClr val="D9D9D9">
              <a:alpha val="26000"/>
            </a:srgbClr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768096"/>
            <a:ext cx="8229600" cy="1280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60704"/>
            <a:ext cx="8229600" cy="2253996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</p:sp>
      <p:graphicFrame>
        <p:nvGraphicFramePr>
          <p:cNvPr id="11" name="Editable chart: Turnaround was the clearest comparative gain" descr="Editable bar chart for Turnaround was the clearest comparative gain."/>
          <p:cNvGraphicFramePr/>
          <p:nvPr/>
        </p:nvGraphicFramePr>
        <p:xfrm>
          <a:off x="566928" y="1152144"/>
          <a:ext cx="8010144" cy="20711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4389120" y="3589020"/>
            <a:ext cx="4297680" cy="1024128"/>
          </a:xfrm>
          <a:prstGeom prst="rect">
            <a:avLst/>
          </a:prstGeom>
          <a:solidFill>
            <a:srgbClr val="FFFFFF"/>
          </a:solidFill>
          <a:ln w="6985">
            <a:solidFill>
              <a:srgbClr val="D9D9D9"/>
            </a:solidFill>
            <a:prstDash val="solid"/>
          </a:ln>
        </p:spPr>
      </p:sp>
      <p:sp>
        <p:nvSpPr>
          <p:cNvPr id="13" name="metadata:chart-readout-label"/>
          <p:cNvSpPr txBox="1"/>
          <p:nvPr/>
        </p:nvSpPr>
        <p:spPr>
          <a:xfrm>
            <a:off x="4498848" y="39456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READOUT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157216" y="386334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2.0d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961888" y="3917442"/>
            <a:ext cx="2615184" cy="3672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preparation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7200" y="3589020"/>
            <a:ext cx="36576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7" name="support:chart-register"/>
          <p:cNvSpPr txBox="1"/>
          <p:nvPr/>
        </p:nvSpPr>
        <p:spPr>
          <a:xfrm>
            <a:off x="548640" y="364388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Thailand reports a median; the Netherlands reports means. Only the Netherlands study provides the concurrent standard-care comparison (p=4.01e-9).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Sources: S2; S3</a:t>
            </a:r>
            <a:endParaRPr lang="en-US" sz="900" dirty="0"/>
          </a:p>
        </p:txBody>
      </p:sp>
      <p:sp>
        <p:nvSpPr>
          <p:cNvPr id="20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8/12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09728"/>
            <a:ext cx="8266176" cy="1280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164592"/>
            <a:ext cx="1225296" cy="25603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950976"/>
            <a:ext cx="16459" cy="5230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0768" y="4722876"/>
            <a:ext cx="274320" cy="16459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0584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 reads changed interpretation, not just detection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49731"/>
            <a:ext cx="2377440" cy="3109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44368" y="1060704"/>
            <a:ext cx="5742432" cy="1280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role-contract-slot:evidence:0"/>
          <p:cNvSpPr/>
          <p:nvPr/>
        </p:nvSpPr>
        <p:spPr>
          <a:xfrm>
            <a:off x="457200" y="1353312"/>
            <a:ext cx="4023360" cy="1538478"/>
          </a:xfrm>
          <a:prstGeom prst="rect">
            <a:avLst/>
          </a:prstGeom>
          <a:solidFill>
            <a:srgbClr val="202020"/>
          </a:solidFill>
          <a:ln w="7620">
            <a:solidFill>
              <a:srgbClr val="202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53312"/>
            <a:ext cx="54864" cy="153847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1463040"/>
            <a:ext cx="1005840" cy="1319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719072" y="1810131"/>
            <a:ext cx="1168603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pathogenic SVs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052267" y="1693926"/>
            <a:ext cx="126370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 kb, 2.4 kb, and 10.1 kb</a:t>
            </a:r>
            <a:endParaRPr lang="en-US" sz="1500" dirty="0"/>
          </a:p>
        </p:txBody>
      </p:sp>
      <p:sp>
        <p:nvSpPr>
          <p:cNvPr id="14" name="role-contract-slot:evidence:1"/>
          <p:cNvSpPr/>
          <p:nvPr/>
        </p:nvSpPr>
        <p:spPr>
          <a:xfrm>
            <a:off x="4663440" y="1353312"/>
            <a:ext cx="4023360" cy="1538478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353312"/>
            <a:ext cx="54864" cy="1538478"/>
          </a:xfrm>
          <a:prstGeom prst="rect">
            <a:avLst/>
          </a:prstGeom>
          <a:solidFill>
            <a:srgbClr val="315A74"/>
          </a:solidFill>
          <a:ln w="12700">
            <a:solidFill>
              <a:srgbClr val="315A7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28032" y="1463040"/>
            <a:ext cx="1005840" cy="1319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15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925312" y="1699641"/>
            <a:ext cx="1168603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recessive cases phased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258507" y="1693926"/>
            <a:ext cx="126370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variants phased in each case</a:t>
            </a:r>
            <a:endParaRPr lang="en-US" sz="1500" dirty="0"/>
          </a:p>
        </p:txBody>
      </p:sp>
      <p:sp>
        <p:nvSpPr>
          <p:cNvPr id="19" name="role-contract-slot:evidence:2"/>
          <p:cNvSpPr/>
          <p:nvPr/>
        </p:nvSpPr>
        <p:spPr>
          <a:xfrm>
            <a:off x="457200" y="3038094"/>
            <a:ext cx="4023360" cy="1538478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038094"/>
            <a:ext cx="54864" cy="153847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3147822"/>
            <a:ext cx="1005840" cy="1319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719072" y="3494913"/>
            <a:ext cx="1168603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SNVs reclassified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052267" y="3153918"/>
            <a:ext cx="1263701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VUS to likely pathogenic using SV + phase context</a:t>
            </a:r>
            <a:endParaRPr lang="en-US" sz="1500" dirty="0"/>
          </a:p>
        </p:txBody>
      </p:sp>
      <p:sp>
        <p:nvSpPr>
          <p:cNvPr id="24" name="role-contract-slot:evidence:3"/>
          <p:cNvSpPr/>
          <p:nvPr/>
        </p:nvSpPr>
        <p:spPr>
          <a:xfrm>
            <a:off x="4663440" y="3038094"/>
            <a:ext cx="4023360" cy="1538478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038094"/>
            <a:ext cx="54864" cy="1538478"/>
          </a:xfrm>
          <a:prstGeom prst="rect">
            <a:avLst/>
          </a:prstGeom>
          <a:solidFill>
            <a:srgbClr val="315A74"/>
          </a:solidFill>
          <a:ln w="12700">
            <a:solidFill>
              <a:srgbClr val="315A7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28032" y="3147822"/>
            <a:ext cx="1005840" cy="1319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15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3/26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5925312" y="3273933"/>
            <a:ext cx="1168603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methylation-expedited diagnoses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258507" y="3378708"/>
            <a:ext cx="126370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Netherlands implementation cohort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Sources: S2; S3</a:t>
            </a:r>
            <a:endParaRPr lang="en-US" sz="900" dirty="0"/>
          </a:p>
        </p:txBody>
      </p:sp>
      <p:sp>
        <p:nvSpPr>
          <p:cNvPr id="31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9/12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09728"/>
            <a:ext cx="8266176" cy="1280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164592"/>
            <a:ext cx="1225296" cy="25603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950976"/>
            <a:ext cx="16459" cy="5230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0768" y="4722876"/>
            <a:ext cx="274320" cy="16459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0584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supports controlled adoption, not broad equivalence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50292"/>
            <a:ext cx="8229600" cy="20117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70409"/>
            <a:ext cx="8229600" cy="82296"/>
          </a:xfrm>
          <a:prstGeom prst="rect">
            <a:avLst/>
          </a:prstGeom>
          <a:solidFill>
            <a:srgbClr val="D9D9D9">
              <a:alpha val="26000"/>
            </a:srgbClr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60704"/>
            <a:ext cx="8229600" cy="1280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role-contract-slot:decision:ledger-0"/>
          <p:cNvSpPr/>
          <p:nvPr/>
        </p:nvSpPr>
        <p:spPr>
          <a:xfrm>
            <a:off x="457200" y="1353312"/>
            <a:ext cx="8229600" cy="787527"/>
          </a:xfrm>
          <a:prstGeom prst="rect">
            <a:avLst/>
          </a:prstGeom>
          <a:solidFill>
            <a:srgbClr val="FFFFFF"/>
          </a:solidFill>
          <a:ln w="8255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353312"/>
            <a:ext cx="73152" cy="787527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metadata:decision-index-0"/>
          <p:cNvSpPr txBox="1"/>
          <p:nvPr/>
        </p:nvSpPr>
        <p:spPr>
          <a:xfrm>
            <a:off x="658368" y="1426464"/>
            <a:ext cx="384048" cy="6412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1389888"/>
            <a:ext cx="126187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322576" y="1389888"/>
            <a:ext cx="619963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Selected ICU cohorts limit generalizability.</a:t>
            </a:r>
            <a:endParaRPr lang="en-US" sz="1600" dirty="0"/>
          </a:p>
        </p:txBody>
      </p:sp>
      <p:sp>
        <p:nvSpPr>
          <p:cNvPr id="15" name="role-contract-slot:decision:ledger-1"/>
          <p:cNvSpPr/>
          <p:nvPr/>
        </p:nvSpPr>
        <p:spPr>
          <a:xfrm>
            <a:off x="457200" y="2177415"/>
            <a:ext cx="8229600" cy="787527"/>
          </a:xfrm>
          <a:prstGeom prst="rect">
            <a:avLst/>
          </a:prstGeom>
          <a:solidFill>
            <a:srgbClr val="FFFFFF"/>
          </a:solidFill>
          <a:ln w="8255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77415"/>
            <a:ext cx="73152" cy="787527"/>
          </a:xfrm>
          <a:prstGeom prst="rect">
            <a:avLst/>
          </a:prstGeom>
          <a:solidFill>
            <a:srgbClr val="315A74"/>
          </a:solidFill>
          <a:ln w="12700">
            <a:solidFill>
              <a:srgbClr val="315A74"/>
            </a:solidFill>
            <a:prstDash val="solid"/>
          </a:ln>
        </p:spPr>
      </p:sp>
      <p:sp>
        <p:nvSpPr>
          <p:cNvPr id="17" name="metadata:decision-index-1"/>
          <p:cNvSpPr txBox="1"/>
          <p:nvPr/>
        </p:nvSpPr>
        <p:spPr>
          <a:xfrm>
            <a:off x="658368" y="2250567"/>
            <a:ext cx="384048" cy="6412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15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2213991"/>
            <a:ext cx="126187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15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Comparability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322576" y="2213991"/>
            <a:ext cx="619963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 structure, referral criteria, pipelines, and TAT definitions differ.</a:t>
            </a:r>
            <a:endParaRPr lang="en-US" sz="1600" dirty="0"/>
          </a:p>
        </p:txBody>
      </p:sp>
      <p:sp>
        <p:nvSpPr>
          <p:cNvPr id="20" name="role-contract-slot:decision:ledger-2"/>
          <p:cNvSpPr/>
          <p:nvPr/>
        </p:nvSpPr>
        <p:spPr>
          <a:xfrm>
            <a:off x="457200" y="3001518"/>
            <a:ext cx="8229600" cy="787527"/>
          </a:xfrm>
          <a:prstGeom prst="rect">
            <a:avLst/>
          </a:prstGeom>
          <a:solidFill>
            <a:srgbClr val="FFFFFF"/>
          </a:solidFill>
          <a:ln w="8255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001518"/>
            <a:ext cx="73152" cy="787527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metadata:decision-index-2"/>
          <p:cNvSpPr txBox="1"/>
          <p:nvPr/>
        </p:nvSpPr>
        <p:spPr>
          <a:xfrm>
            <a:off x="658368" y="3074670"/>
            <a:ext cx="384048" cy="6412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3038094"/>
            <a:ext cx="126187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Endpoints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2322576" y="3038094"/>
            <a:ext cx="619963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Diagnosis and care change are reported; survival, stay, and cost are not.</a:t>
            </a:r>
            <a:endParaRPr lang="en-US" sz="1600" dirty="0"/>
          </a:p>
        </p:txBody>
      </p:sp>
      <p:sp>
        <p:nvSpPr>
          <p:cNvPr id="25" name="role-contract-slot:decision:ledger-3"/>
          <p:cNvSpPr/>
          <p:nvPr/>
        </p:nvSpPr>
        <p:spPr>
          <a:xfrm>
            <a:off x="457200" y="3825621"/>
            <a:ext cx="8229600" cy="787527"/>
          </a:xfrm>
          <a:prstGeom prst="rect">
            <a:avLst/>
          </a:prstGeom>
          <a:solidFill>
            <a:srgbClr val="FFFFFF"/>
          </a:solidFill>
          <a:ln w="8255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825621"/>
            <a:ext cx="73152" cy="787527"/>
          </a:xfrm>
          <a:prstGeom prst="rect">
            <a:avLst/>
          </a:prstGeom>
          <a:solidFill>
            <a:srgbClr val="315A74"/>
          </a:solidFill>
          <a:ln w="12700">
            <a:solidFill>
              <a:srgbClr val="315A74"/>
            </a:solidFill>
            <a:prstDash val="solid"/>
          </a:ln>
        </p:spPr>
      </p:sp>
      <p:sp>
        <p:nvSpPr>
          <p:cNvPr id="27" name="metadata:decision-index-3"/>
          <p:cNvSpPr txBox="1"/>
          <p:nvPr/>
        </p:nvSpPr>
        <p:spPr>
          <a:xfrm>
            <a:off x="658368" y="3898773"/>
            <a:ext cx="384048" cy="6412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15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15568" y="3862197"/>
            <a:ext cx="126187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15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2322576" y="3862197"/>
            <a:ext cx="619963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DNA quality, interpretation coverage, confirmation, and governance remain local.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Sources: S1; S2; S3</a:t>
            </a:r>
            <a:endParaRPr lang="en-US" sz="900" dirty="0"/>
          </a:p>
        </p:txBody>
      </p:sp>
      <p:sp>
        <p:nvSpPr>
          <p:cNvPr id="32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10/12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09728"/>
            <a:ext cx="8266176" cy="1280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164592"/>
            <a:ext cx="1225296" cy="25603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950976"/>
            <a:ext cx="16459" cy="5230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0768" y="4722876"/>
            <a:ext cx="274320" cy="16459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0584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from evidence signal to a bounded implementation study</a:t>
            </a:r>
            <a:endParaRPr lang="en-US" sz="2400" dirty="0"/>
          </a:p>
        </p:txBody>
      </p:sp>
      <p:sp>
        <p:nvSpPr>
          <p:cNvPr id="7" name="role-contract-slot:comparison:option-0"/>
          <p:cNvSpPr/>
          <p:nvPr/>
        </p:nvSpPr>
        <p:spPr>
          <a:xfrm>
            <a:off x="457200" y="1353312"/>
            <a:ext cx="4526280" cy="2347082"/>
          </a:xfrm>
          <a:prstGeom prst="rect">
            <a:avLst/>
          </a:prstGeom>
          <a:solidFill>
            <a:srgbClr val="FFFFFF"/>
          </a:solidFill>
          <a:ln w="8255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53312"/>
            <a:ext cx="64008" cy="234708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2168713"/>
            <a:ext cx="1121054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supports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834286" y="2083369"/>
            <a:ext cx="30028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SNV benchmark accuracy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Faster in S3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Phase + methylation</a:t>
            </a:r>
            <a:endParaRPr lang="en-US" sz="1500" dirty="0"/>
          </a:p>
        </p:txBody>
      </p:sp>
      <p:sp>
        <p:nvSpPr>
          <p:cNvPr id="11" name="role-contract-slot:comparison:option-1"/>
          <p:cNvSpPr/>
          <p:nvPr/>
        </p:nvSpPr>
        <p:spPr>
          <a:xfrm>
            <a:off x="5477256" y="1874886"/>
            <a:ext cx="3209544" cy="1825508"/>
          </a:xfrm>
          <a:prstGeom prst="rect">
            <a:avLst/>
          </a:prstGeom>
          <a:solidFill>
            <a:srgbClr val="FFFFFF"/>
          </a:solidFill>
          <a:ln w="8255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77256" y="1874886"/>
            <a:ext cx="3209544" cy="64008"/>
          </a:xfrm>
          <a:prstGeom prst="rect">
            <a:avLst/>
          </a:prstGeom>
          <a:solidFill>
            <a:srgbClr val="315A74"/>
          </a:solidFill>
          <a:ln w="12700">
            <a:solidFill>
              <a:srgbClr val="315A7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41848" y="2039478"/>
            <a:ext cx="2880360" cy="401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15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validation must establish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41848" y="2532530"/>
            <a:ext cx="28803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Local sensitivity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Receipt-to-report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Utility + cost</a:t>
            </a:r>
            <a:endParaRPr lang="en-US" sz="1500" dirty="0"/>
          </a:p>
        </p:txBody>
      </p:sp>
      <p:sp>
        <p:nvSpPr>
          <p:cNvPr id="15" name="role-contract-slot:comparison:verdict"/>
          <p:cNvSpPr/>
          <p:nvPr/>
        </p:nvSpPr>
        <p:spPr>
          <a:xfrm>
            <a:off x="2103120" y="3625596"/>
            <a:ext cx="4937760" cy="987552"/>
          </a:xfrm>
          <a:prstGeom prst="rect">
            <a:avLst/>
          </a:prstGeom>
          <a:solidFill>
            <a:srgbClr val="202020"/>
          </a:solidFill>
          <a:ln w="8255">
            <a:solidFill>
              <a:srgbClr val="315A7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94560" y="3727323"/>
            <a:ext cx="4754880" cy="784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a prospective local service study with frozen eligibility, turnaround, utility, and management endpoints.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Sources: S1; S2; S3</a:t>
            </a:r>
            <a:endParaRPr lang="en-US" sz="900" dirty="0"/>
          </a:p>
        </p:txBody>
      </p:sp>
      <p:sp>
        <p:nvSpPr>
          <p:cNvPr id="19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11/12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109728"/>
            <a:ext cx="8266176" cy="1280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164592"/>
            <a:ext cx="1225296" cy="25603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950976"/>
            <a:ext cx="16459" cy="52303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0768" y="4722876"/>
            <a:ext cx="274320" cy="16459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3830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sources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758952"/>
            <a:ext cx="1097280" cy="274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82496" y="768096"/>
            <a:ext cx="7004304" cy="1280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5029" y="1280956"/>
          <a:ext cx="5941771" cy="3111941"/>
        </p:xfrm>
        <a:graphic>
          <a:graphicData uri="http://schemas.openxmlformats.org/drawingml/2006/table">
            <a:tbl>
              <a:tblPr/>
              <a:tblGrid>
                <a:gridCol w="332149"/>
                <a:gridCol w="1771460"/>
                <a:gridCol w="1402406"/>
                <a:gridCol w="2435757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ID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Study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DOI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Evidence used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020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S1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Nyaga et al. (2024), npj Genom Med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10.1038/s41525-024-00445-5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Accuracy, CNV, methylation, trio workflow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S2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Kamolvisit et al. (2025), EJHG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10.1038/s41431-025-01818-9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Yield, TAT, SVs, phasing, reclassification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S3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Smits et al. (2025), EJHG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10.1038/s41431-025-01959-x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1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TAT, yield, methylation, test burden, care change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1060704"/>
            <a:ext cx="1909267" cy="3552444"/>
          </a:xfrm>
          <a:prstGeom prst="rect">
            <a:avLst/>
          </a:prstGeom>
          <a:solidFill>
            <a:srgbClr val="FFFFFF"/>
          </a:solidFill>
          <a:ln w="6985">
            <a:solidFill>
              <a:srgbClr val="D9D9D9"/>
            </a:solidFill>
            <a:prstDash val="solid"/>
          </a:ln>
        </p:spPr>
      </p:sp>
      <p:sp>
        <p:nvSpPr>
          <p:cNvPr id="11" name="metadata:table-notes-label"/>
          <p:cNvSpPr txBox="1"/>
          <p:nvPr/>
        </p:nvSpPr>
        <p:spPr>
          <a:xfrm>
            <a:off x="548640" y="1152144"/>
            <a:ext cx="17263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NOTES</a:t>
            </a:r>
            <a:endParaRPr lang="en-US" sz="900" dirty="0"/>
          </a:p>
        </p:txBody>
      </p:sp>
      <p:sp>
        <p:nvSpPr>
          <p:cNvPr id="12" name="metadata:reference-notes"/>
          <p:cNvSpPr txBox="1"/>
          <p:nvPr/>
        </p:nvSpPr>
        <p:spPr>
          <a:xfrm>
            <a:off x="548640" y="1536192"/>
            <a:ext cx="1726387" cy="1233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reports; metrics transcribed from article text or PubMed.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12/12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 Genomics for ICU Care</dc:title>
  <dc:subject>What three recent nanopore long-read studies show about analytical validity, turnaround time, and clinical utility</dc:subject>
  <dc:creator>Presentation Team</dc:creator>
  <cp:lastModifiedBy>Presentation Team</cp:lastModifiedBy>
  <cp:revision>1</cp:revision>
  <dcterms:created xsi:type="dcterms:W3CDTF">2026-08-24T03:20:53Z</dcterms:created>
  <dcterms:modified xsi:type="dcterms:W3CDTF">2026-08-24T03:20:53Z</dcterms:modified>
</cp:coreProperties>
</file>