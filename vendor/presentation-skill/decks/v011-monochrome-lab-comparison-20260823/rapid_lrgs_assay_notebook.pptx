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GIAB benchmark (%)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25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717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231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525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SNV precision</c:v>
                  </c:pt>
                  <c:pt idx="1">
                    <c:v>SNV recall</c:v>
                  </c:pt>
                  <c:pt idx="2">
                    <c:v>Indel precision</c:v>
                  </c:pt>
                  <c:pt idx="3">
                    <c:v>Indel 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99.7</c:v>
                </c:pt>
                <c:pt idx="1">
                  <c:v>99.2</c:v>
                </c:pt>
                <c:pt idx="2">
                  <c:v>92.2</c:v>
                </c:pt>
                <c:pt idx="3">
                  <c:v>83.8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2525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4D4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SNV F1 (%)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25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40x</c:v>
                  </c:pt>
                  <c:pt idx="1">
                    <c:v>80x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99.5</c:v>
                </c:pt>
                <c:pt idx="1">
                  <c:v>99.2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Indel F1 (%)</c:v>
                </c:pt>
              </c:strCache>
            </c:strRef>
          </c:tx>
          <c:spPr>
            <a:solidFill>
              <a:srgbClr val="1717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25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40x</c:v>
                  </c:pt>
                  <c:pt idx="1">
                    <c:v>80x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92.5</c:v>
                </c:pt>
                <c:pt idx="1">
                  <c:v>94.1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2525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4D4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52525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Diagnostic yield (%)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25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7171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Thailand</c:v>
                  </c:pt>
                  <c:pt idx="1">
                    <c:v>Netherlands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2525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4D4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days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25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717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231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Thailand LR-GS</c:v>
                  </c:pt>
                  <c:pt idx="1">
                    <c:v>NL LR-GS</c:v>
                  </c:pt>
                  <c:pt idx="2">
                    <c:v>NL standard care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5.3</c:v>
                </c:pt>
                <c:pt idx="2">
                  <c:v>18.4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2525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4D4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metadata:title-kicker"/>
          <p:cNvSpPr txBox="1"/>
          <p:nvPr/>
        </p:nvSpPr>
        <p:spPr>
          <a:xfrm>
            <a:off x="731520" y="905256"/>
            <a:ext cx="4136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TRANSLATIONAL GENOMICS REVIEW</a:t>
            </a:r>
            <a:endParaRPr lang="en-US" sz="900" dirty="0"/>
          </a:p>
        </p:txBody>
      </p:sp>
      <p:sp>
        <p:nvSpPr>
          <p:cNvPr id="9" name="decorative:role-contract-accent:title:heading"/>
          <p:cNvSpPr/>
          <p:nvPr/>
        </p:nvSpPr>
        <p:spPr>
          <a:xfrm>
            <a:off x="731520" y="1124712"/>
            <a:ext cx="954634" cy="4114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slide-title:title"/>
          <p:cNvSpPr txBox="1"/>
          <p:nvPr/>
        </p:nvSpPr>
        <p:spPr>
          <a:xfrm>
            <a:off x="731520" y="1234440"/>
            <a:ext cx="530352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Rapid Genomics for ICU Care</a:t>
            </a:r>
            <a:endParaRPr lang="en-US" sz="4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983230"/>
            <a:ext cx="475488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three recent nanopore long-read studies show about analytical validity, turnaround time, and clinical utility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Three-study evidence synthesis | August 2026</a:t>
            </a:r>
            <a:endParaRPr lang="en-US" sz="900" dirty="0"/>
          </a:p>
        </p:txBody>
      </p:sp>
      <p:sp>
        <p:nvSpPr>
          <p:cNvPr id="1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evidence now spans benchmark validity and frontline use</a:t>
            </a:r>
            <a:endParaRPr lang="en-US" sz="2600" dirty="0"/>
          </a:p>
        </p:txBody>
      </p:sp>
      <p:sp>
        <p:nvSpPr>
          <p:cNvPr id="9" name="role-contract-slot:evidence:0"/>
          <p:cNvSpPr/>
          <p:nvPr/>
        </p:nvSpPr>
        <p:spPr>
          <a:xfrm>
            <a:off x="457200" y="1548384"/>
            <a:ext cx="4023360" cy="1440942"/>
          </a:xfrm>
          <a:prstGeom prst="rect">
            <a:avLst/>
          </a:prstGeom>
          <a:solidFill>
            <a:srgbClr val="171717"/>
          </a:solidFill>
          <a:ln w="7620">
            <a:solidFill>
              <a:srgbClr val="1717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48384"/>
            <a:ext cx="54864" cy="144094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1658112"/>
            <a:ext cx="1005840" cy="122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719072" y="1956435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studies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52267" y="1952625"/>
            <a:ext cx="1263701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Published 2024-2025</a:t>
            </a:r>
            <a:endParaRPr lang="en-US" sz="1500" dirty="0"/>
          </a:p>
        </p:txBody>
      </p:sp>
      <p:sp>
        <p:nvSpPr>
          <p:cNvPr id="14" name="role-contract-slot:evidence:1"/>
          <p:cNvSpPr/>
          <p:nvPr/>
        </p:nvSpPr>
        <p:spPr>
          <a:xfrm>
            <a:off x="4663440" y="1548384"/>
            <a:ext cx="4023360" cy="1440942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548384"/>
            <a:ext cx="54864" cy="144094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8032" y="1658112"/>
            <a:ext cx="1005840" cy="122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925312" y="1956435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benchmark genomes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58507" y="1840230"/>
            <a:ext cx="12637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GIAB analytical validation</a:t>
            </a:r>
            <a:endParaRPr lang="en-US" sz="1500" dirty="0"/>
          </a:p>
        </p:txBody>
      </p:sp>
      <p:sp>
        <p:nvSpPr>
          <p:cNvPr id="19" name="role-contract-slot:evidence:2"/>
          <p:cNvSpPr/>
          <p:nvPr/>
        </p:nvSpPr>
        <p:spPr>
          <a:xfrm>
            <a:off x="457200" y="3135630"/>
            <a:ext cx="4023360" cy="1440942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135630"/>
            <a:ext cx="54864" cy="144094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245358"/>
            <a:ext cx="1005840" cy="122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719072" y="3543681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clinical trios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052267" y="3427476"/>
            <a:ext cx="12637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Prospective workflow validation</a:t>
            </a:r>
            <a:endParaRPr lang="en-US" sz="1500" dirty="0"/>
          </a:p>
        </p:txBody>
      </p:sp>
      <p:sp>
        <p:nvSpPr>
          <p:cNvPr id="24" name="role-contract-slot:evidence:3"/>
          <p:cNvSpPr/>
          <p:nvPr/>
        </p:nvSpPr>
        <p:spPr>
          <a:xfrm>
            <a:off x="4663440" y="3135630"/>
            <a:ext cx="4023360" cy="1440942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135630"/>
            <a:ext cx="54864" cy="144094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3245358"/>
            <a:ext cx="1005840" cy="122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925312" y="3543681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ICU participants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258507" y="3245358"/>
            <a:ext cx="1263701" cy="122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implementation cohorts; outcomes kept separate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S1; S2; S3</a:t>
            </a:r>
            <a:endParaRPr lang="en-US" sz="900" dirty="0"/>
          </a:p>
        </p:txBody>
      </p:sp>
      <p:sp>
        <p:nvSpPr>
          <p:cNvPr id="3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assay links specimen, genome, methylome, and interpretation</a:t>
            </a:r>
            <a:endParaRPr lang="en-US" sz="2600" dirty="0"/>
          </a:p>
        </p:txBody>
      </p:sp>
      <p:sp>
        <p:nvSpPr>
          <p:cNvPr id="9" name="role-contract-slot:evidence:timeline-0"/>
          <p:cNvSpPr/>
          <p:nvPr/>
        </p:nvSpPr>
        <p:spPr>
          <a:xfrm>
            <a:off x="457200" y="2236851"/>
            <a:ext cx="8229600" cy="0"/>
          </a:xfrm>
          <a:prstGeom prst="line">
            <a:avLst/>
          </a:prstGeom>
          <a:noFill/>
          <a:ln w="8890">
            <a:solidFill>
              <a:srgbClr val="D4D4D4"/>
            </a:solidFill>
            <a:prstDash val="solid"/>
          </a:ln>
        </p:spPr>
      </p:sp>
      <p:sp>
        <p:nvSpPr>
          <p:cNvPr id="10" name="decorative:timeline-marker:0"/>
          <p:cNvSpPr/>
          <p:nvPr/>
        </p:nvSpPr>
        <p:spPr>
          <a:xfrm>
            <a:off x="457200" y="1810321"/>
            <a:ext cx="164592" cy="164592"/>
          </a:xfrm>
          <a:prstGeom prst="ellipse">
            <a:avLst/>
          </a:prstGeom>
          <a:solidFill>
            <a:srgbClr val="171717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metadata:timeline-label-0"/>
          <p:cNvSpPr txBox="1"/>
          <p:nvPr/>
        </p:nvSpPr>
        <p:spPr>
          <a:xfrm>
            <a:off x="731520" y="1621536"/>
            <a:ext cx="886968" cy="54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/ PREP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1603248"/>
            <a:ext cx="1746504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Extract native DNA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1603248"/>
            <a:ext cx="4754880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Preserve long molecules and native methylation signal.</a:t>
            </a:r>
            <a:endParaRPr lang="en-US" sz="1600" dirty="0"/>
          </a:p>
        </p:txBody>
      </p:sp>
      <p:sp>
        <p:nvSpPr>
          <p:cNvPr id="14" name="role-contract-slot:evidence:timeline-1"/>
          <p:cNvSpPr/>
          <p:nvPr/>
        </p:nvSpPr>
        <p:spPr>
          <a:xfrm>
            <a:off x="457200" y="3016758"/>
            <a:ext cx="8229600" cy="0"/>
          </a:xfrm>
          <a:prstGeom prst="line">
            <a:avLst/>
          </a:prstGeom>
          <a:noFill/>
          <a:ln w="8890">
            <a:solidFill>
              <a:srgbClr val="D4D4D4"/>
            </a:solidFill>
            <a:prstDash val="solid"/>
          </a:ln>
        </p:spPr>
      </p:sp>
      <p:sp>
        <p:nvSpPr>
          <p:cNvPr id="15" name="decorative:timeline-marker:1"/>
          <p:cNvSpPr/>
          <p:nvPr/>
        </p:nvSpPr>
        <p:spPr>
          <a:xfrm>
            <a:off x="457200" y="2590229"/>
            <a:ext cx="164592" cy="164592"/>
          </a:xfrm>
          <a:prstGeom prst="ellipse">
            <a:avLst/>
          </a:prstGeom>
          <a:solidFill>
            <a:srgbClr val="B4231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metadata:timeline-label-1"/>
          <p:cNvSpPr txBox="1"/>
          <p:nvPr/>
        </p:nvSpPr>
        <p:spPr>
          <a:xfrm>
            <a:off x="731520" y="2401443"/>
            <a:ext cx="886968" cy="54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READ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2383155"/>
            <a:ext cx="1746504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Sequence in real time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767328" y="2383155"/>
            <a:ext cx="4754880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Nanopore reads accumulate while coverage is monitored.</a:t>
            </a:r>
            <a:endParaRPr lang="en-US" sz="1600" dirty="0"/>
          </a:p>
        </p:txBody>
      </p:sp>
      <p:sp>
        <p:nvSpPr>
          <p:cNvPr id="19" name="role-contract-slot:evidence:timeline-2"/>
          <p:cNvSpPr/>
          <p:nvPr/>
        </p:nvSpPr>
        <p:spPr>
          <a:xfrm>
            <a:off x="457200" y="3796665"/>
            <a:ext cx="8229600" cy="0"/>
          </a:xfrm>
          <a:prstGeom prst="line">
            <a:avLst/>
          </a:prstGeom>
          <a:noFill/>
          <a:ln w="8890">
            <a:solidFill>
              <a:srgbClr val="D4D4D4"/>
            </a:solidFill>
            <a:prstDash val="solid"/>
          </a:ln>
        </p:spPr>
      </p:sp>
      <p:sp>
        <p:nvSpPr>
          <p:cNvPr id="20" name="decorative:timeline-marker:2"/>
          <p:cNvSpPr/>
          <p:nvPr/>
        </p:nvSpPr>
        <p:spPr>
          <a:xfrm>
            <a:off x="457200" y="3370136"/>
            <a:ext cx="164592" cy="164592"/>
          </a:xfrm>
          <a:prstGeom prst="ellipse">
            <a:avLst/>
          </a:prstGeom>
          <a:solidFill>
            <a:srgbClr val="171717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metadata:timeline-label-2"/>
          <p:cNvSpPr txBox="1"/>
          <p:nvPr/>
        </p:nvSpPr>
        <p:spPr>
          <a:xfrm>
            <a:off x="731520" y="3181350"/>
            <a:ext cx="886968" cy="54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CALL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3163062"/>
            <a:ext cx="1746504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Resolve variant classes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767328" y="3163062"/>
            <a:ext cx="4754880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SNVs, indels, SVs, CNVs, repeats, and methylation share one dataset.</a:t>
            </a:r>
            <a:endParaRPr lang="en-US" sz="1600" dirty="0"/>
          </a:p>
        </p:txBody>
      </p:sp>
      <p:sp>
        <p:nvSpPr>
          <p:cNvPr id="24" name="role-contract-slot:evidence:timeline-3"/>
          <p:cNvSpPr/>
          <p:nvPr/>
        </p:nvSpPr>
        <p:spPr>
          <a:xfrm>
            <a:off x="457200" y="4576572"/>
            <a:ext cx="8229600" cy="0"/>
          </a:xfrm>
          <a:prstGeom prst="line">
            <a:avLst/>
          </a:prstGeom>
          <a:noFill/>
          <a:ln w="8890">
            <a:solidFill>
              <a:srgbClr val="D4D4D4"/>
            </a:solidFill>
            <a:prstDash val="solid"/>
          </a:ln>
        </p:spPr>
      </p:sp>
      <p:sp>
        <p:nvSpPr>
          <p:cNvPr id="25" name="decorative:timeline-marker:3"/>
          <p:cNvSpPr/>
          <p:nvPr/>
        </p:nvSpPr>
        <p:spPr>
          <a:xfrm>
            <a:off x="457200" y="4150042"/>
            <a:ext cx="164592" cy="164592"/>
          </a:xfrm>
          <a:prstGeom prst="ellipse">
            <a:avLst/>
          </a:prstGeom>
          <a:solidFill>
            <a:srgbClr val="B4231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" name="metadata:timeline-label-3"/>
          <p:cNvSpPr txBox="1"/>
          <p:nvPr/>
        </p:nvSpPr>
        <p:spPr>
          <a:xfrm>
            <a:off x="731520" y="3961257"/>
            <a:ext cx="886968" cy="54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INTERPRET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3942969"/>
            <a:ext cx="1746504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and report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767328" y="3942969"/>
            <a:ext cx="4754880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Read-backed phasing and phenotype review connect findings to urgent care.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S1; S2; S3</a:t>
            </a:r>
            <a:endParaRPr lang="en-US" sz="900" dirty="0"/>
          </a:p>
        </p:txBody>
      </p:sp>
      <p:sp>
        <p:nvSpPr>
          <p:cNvPr id="3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 variants were accurate; indels remain the harder class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08227"/>
            <a:ext cx="2377440" cy="3109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1219200"/>
            <a:ext cx="5742432" cy="12802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1548384"/>
            <a:ext cx="6912864" cy="2206630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</p:spPr>
      </p:sp>
      <p:graphicFrame>
        <p:nvGraphicFramePr>
          <p:cNvPr id="12" name="Editable chart: Small variants were accurate; indels remain the harder class" descr="Editable bar chart for Small variants were accurate; indels remain the harder class."/>
          <p:cNvGraphicFramePr/>
          <p:nvPr/>
        </p:nvGraphicFramePr>
        <p:xfrm>
          <a:off x="1225296" y="1639824"/>
          <a:ext cx="6693408" cy="2023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000195"/>
            <a:ext cx="8229600" cy="612953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4" name="support:chart-register"/>
          <p:cNvSpPr txBox="1"/>
          <p:nvPr/>
        </p:nvSpPr>
        <p:spPr>
          <a:xfrm>
            <a:off x="548640" y="4055059"/>
            <a:ext cx="8046720" cy="50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Genome in a Bottle reference samples; values are precision and recall reported by Nyaga et al.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S1</a:t>
            </a:r>
            <a:endParaRPr lang="en-US" sz="900" dirty="0"/>
          </a:p>
        </p:txBody>
      </p:sp>
      <p:sp>
        <p:nvSpPr>
          <p:cNvPr id="17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Doubling coverage helped indels more than SNVs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19200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7196"/>
            <a:ext cx="777240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1548384"/>
            <a:ext cx="6912864" cy="2206630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</p:spPr>
      </p:sp>
      <p:graphicFrame>
        <p:nvGraphicFramePr>
          <p:cNvPr id="12" name="Editable chart: Doubling coverage helped indels more than SNVs" descr="Editable bar chart for Doubling coverage helped indels more than SNVs."/>
          <p:cNvGraphicFramePr/>
          <p:nvPr/>
        </p:nvGraphicFramePr>
        <p:xfrm>
          <a:off x="1225296" y="1639824"/>
          <a:ext cx="6693408" cy="2023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000195"/>
            <a:ext cx="8229600" cy="612953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4" name="support:chart-register"/>
          <p:cNvSpPr txBox="1"/>
          <p:nvPr/>
        </p:nvSpPr>
        <p:spPr>
          <a:xfrm>
            <a:off x="548640" y="4055059"/>
            <a:ext cx="8046720" cy="50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higher sequencing target should be justified by the variant classes and turnaround constraint, not by SNV performance alone.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S1</a:t>
            </a:r>
            <a:endParaRPr lang="en-US" sz="900" dirty="0"/>
          </a:p>
        </p:txBody>
      </p:sp>
      <p:sp>
        <p:nvSpPr>
          <p:cNvPr id="17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three studies answer different questions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4D4D4">
              <a:alpha val="26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23900"/>
            <a:ext cx="8229600" cy="12802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22348"/>
          <a:ext cx="8229600" cy="2590800"/>
        </p:xfrm>
        <a:graphic>
          <a:graphicData uri="http://schemas.openxmlformats.org/drawingml/2006/table">
            <a:tbl>
              <a:tblPr/>
              <a:tblGrid>
                <a:gridCol w="1075765"/>
                <a:gridCol w="1075765"/>
                <a:gridCol w="1936376"/>
                <a:gridCol w="591671"/>
                <a:gridCol w="1398494"/>
                <a:gridCol w="2151529"/>
              </a:tblGrid>
              <a:tr h="647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Study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Setting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Design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Reported TAT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Primary contribution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Nyaga 2024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Australia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Benchmark + prospective trios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 + 14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~5 working days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Analytical validity across variant classes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Kamolvisit 2025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Thailand, 2 ICUs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Prospective singleton rLR-GS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 days, median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First-tier diagnosis and management change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Smits 2025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Netherlands ICUs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LR-GS alongside standard care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26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5.3 vs 18.4 days, mean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Concurrent TAT and care-impact comparison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382512" y="1053084"/>
            <a:ext cx="2304288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4"/>
            </a:solidFill>
            <a:prstDash val="solid"/>
          </a:ln>
        </p:spPr>
      </p:sp>
      <p:sp>
        <p:nvSpPr>
          <p:cNvPr id="14" name="metadata:table-index-label"/>
          <p:cNvSpPr txBox="1"/>
          <p:nvPr/>
        </p:nvSpPr>
        <p:spPr>
          <a:xfrm>
            <a:off x="6492240" y="12542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5" name="metadata:table-index-detail"/>
          <p:cNvSpPr txBox="1"/>
          <p:nvPr/>
        </p:nvSpPr>
        <p:spPr>
          <a:xfrm>
            <a:off x="7315200" y="1144524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rows  |  Study · Setting · Design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1053084"/>
            <a:ext cx="5669280" cy="71323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053084"/>
            <a:ext cx="64008" cy="7132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8" name="metadata:table-readout-label"/>
          <p:cNvSpPr txBox="1"/>
          <p:nvPr/>
        </p:nvSpPr>
        <p:spPr>
          <a:xfrm>
            <a:off x="621792" y="1254252"/>
            <a:ext cx="1020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697126" y="1107948"/>
            <a:ext cx="42464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study-specific signals; do not pool the diagnostic yields.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S1; S2; S3</a:t>
            </a:r>
            <a:endParaRPr lang="en-US" sz="900" dirty="0"/>
          </a:p>
        </p:txBody>
      </p:sp>
      <p:sp>
        <p:nvSpPr>
          <p:cNvPr id="2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Both ICU cohorts found diagnoses, with context-dependent yield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19200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7196"/>
            <a:ext cx="777240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1548384"/>
            <a:ext cx="6912864" cy="2206630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</p:spPr>
      </p:sp>
      <p:graphicFrame>
        <p:nvGraphicFramePr>
          <p:cNvPr id="12" name="Editable chart: Both ICU cohorts found diagnoses, with context-dependent yield" descr="Editable bar chart for Both ICU cohorts found diagnoses, with context-dependent yield."/>
          <p:cNvGraphicFramePr/>
          <p:nvPr/>
        </p:nvGraphicFramePr>
        <p:xfrm>
          <a:off x="1225296" y="1639824"/>
          <a:ext cx="6693408" cy="2023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000195"/>
            <a:ext cx="8229600" cy="612953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4" name="support:chart-register"/>
          <p:cNvSpPr txBox="1"/>
          <p:nvPr/>
        </p:nvSpPr>
        <p:spPr>
          <a:xfrm>
            <a:off x="548640" y="4055059"/>
            <a:ext cx="8046720" cy="50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Descriptive comparison only. Referral, case mix, family structure, analysis, and diagnostic criteria differed.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S2; S3</a:t>
            </a:r>
            <a:endParaRPr lang="en-US" sz="900" dirty="0"/>
          </a:p>
        </p:txBody>
      </p:sp>
      <p:sp>
        <p:nvSpPr>
          <p:cNvPr id="17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"/>
            <a:ext cx="50292" cy="4953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73736"/>
            <a:ext cx="80467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Turnaround was the clearest comparative gain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723900"/>
            <a:ext cx="8229600" cy="12802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54990"/>
            <a:ext cx="1097280" cy="2377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053084"/>
            <a:ext cx="6912864" cy="2563246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</p:spPr>
      </p:sp>
      <p:graphicFrame>
        <p:nvGraphicFramePr>
          <p:cNvPr id="13" name="Editable chart: Turnaround was the clearest comparative gain" descr="Editable bar chart for Turnaround was the clearest comparative gain."/>
          <p:cNvGraphicFramePr/>
          <p:nvPr/>
        </p:nvGraphicFramePr>
        <p:xfrm>
          <a:off x="1225296" y="1144524"/>
          <a:ext cx="6693408" cy="238036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3901135"/>
            <a:ext cx="8229600" cy="712013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support:chart-register"/>
          <p:cNvSpPr txBox="1"/>
          <p:nvPr/>
        </p:nvSpPr>
        <p:spPr>
          <a:xfrm>
            <a:off x="548640" y="3955999"/>
            <a:ext cx="8046720" cy="6022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Thailand reports a median; the Netherlands reports means. Only the Netherlands study provides the concurrent standard-care comparison (p=4.01e-9).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S2; S3</a:t>
            </a:r>
            <a:endParaRPr lang="en-US" sz="900" dirty="0"/>
          </a:p>
        </p:txBody>
      </p:sp>
      <p:sp>
        <p:nvSpPr>
          <p:cNvPr id="18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Long reads changed interpretation, not just detection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10056"/>
            <a:ext cx="3634740" cy="274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19956" y="1219200"/>
            <a:ext cx="4466844" cy="12802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role-contract-slot:evidence:0"/>
          <p:cNvSpPr/>
          <p:nvPr/>
        </p:nvSpPr>
        <p:spPr>
          <a:xfrm>
            <a:off x="457200" y="1548384"/>
            <a:ext cx="4023360" cy="1440942"/>
          </a:xfrm>
          <a:prstGeom prst="rect">
            <a:avLst/>
          </a:prstGeom>
          <a:solidFill>
            <a:srgbClr val="171717"/>
          </a:solidFill>
          <a:ln w="7620">
            <a:solidFill>
              <a:srgbClr val="1717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48384"/>
            <a:ext cx="54864" cy="144094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1658112"/>
            <a:ext cx="1005840" cy="122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19072" y="1956435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pathogenic SVs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52267" y="1840230"/>
            <a:ext cx="12637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 kb, 2.4 kb, and 10.1 kb</a:t>
            </a:r>
            <a:endParaRPr lang="en-US" sz="1500" dirty="0"/>
          </a:p>
        </p:txBody>
      </p:sp>
      <p:sp>
        <p:nvSpPr>
          <p:cNvPr id="16" name="role-contract-slot:evidence:1"/>
          <p:cNvSpPr/>
          <p:nvPr/>
        </p:nvSpPr>
        <p:spPr>
          <a:xfrm>
            <a:off x="4663440" y="1548384"/>
            <a:ext cx="4023360" cy="1440942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548384"/>
            <a:ext cx="54864" cy="144094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28032" y="1658112"/>
            <a:ext cx="1005840" cy="122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925312" y="1845945"/>
            <a:ext cx="1168603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recessive cases phased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258507" y="1840230"/>
            <a:ext cx="12637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variants phased in each case</a:t>
            </a:r>
            <a:endParaRPr lang="en-US" sz="1500" dirty="0"/>
          </a:p>
        </p:txBody>
      </p:sp>
      <p:sp>
        <p:nvSpPr>
          <p:cNvPr id="21" name="role-contract-slot:evidence:2"/>
          <p:cNvSpPr/>
          <p:nvPr/>
        </p:nvSpPr>
        <p:spPr>
          <a:xfrm>
            <a:off x="457200" y="3135630"/>
            <a:ext cx="4023360" cy="1440942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35630"/>
            <a:ext cx="54864" cy="144094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245358"/>
            <a:ext cx="1005840" cy="122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719072" y="3543681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SNVs reclassified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052267" y="3245358"/>
            <a:ext cx="1263701" cy="122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VUS to likely pathogenic using SV + phase context</a:t>
            </a:r>
            <a:endParaRPr lang="en-US" sz="1500" dirty="0"/>
          </a:p>
        </p:txBody>
      </p:sp>
      <p:sp>
        <p:nvSpPr>
          <p:cNvPr id="26" name="role-contract-slot:evidence:3"/>
          <p:cNvSpPr/>
          <p:nvPr/>
        </p:nvSpPr>
        <p:spPr>
          <a:xfrm>
            <a:off x="4663440" y="3135630"/>
            <a:ext cx="4023360" cy="1440942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135630"/>
            <a:ext cx="54864" cy="144094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28032" y="3245358"/>
            <a:ext cx="1005840" cy="122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3/26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5925312" y="3322701"/>
            <a:ext cx="116860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methylation-expedited diagnoses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258507" y="3427476"/>
            <a:ext cx="12637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Netherlands implementation cohort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S2; S3</a:t>
            </a:r>
            <a:endParaRPr lang="en-US" sz="900" dirty="0"/>
          </a:p>
        </p:txBody>
      </p:sp>
      <p:sp>
        <p:nvSpPr>
          <p:cNvPr id="3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"/>
            <a:ext cx="50292" cy="9906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73736"/>
            <a:ext cx="8046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supports controlled adoption, not broad equivalence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1219200"/>
            <a:ext cx="8229600" cy="12802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50290"/>
            <a:ext cx="1097280" cy="2377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role-contract-slot:decision:ledger-0"/>
          <p:cNvSpPr/>
          <p:nvPr/>
        </p:nvSpPr>
        <p:spPr>
          <a:xfrm>
            <a:off x="457200" y="1548384"/>
            <a:ext cx="8229600" cy="738759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48384"/>
            <a:ext cx="73152" cy="738759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" name="metadata:decision-index-0"/>
          <p:cNvSpPr txBox="1"/>
          <p:nvPr/>
        </p:nvSpPr>
        <p:spPr>
          <a:xfrm>
            <a:off x="658368" y="1621536"/>
            <a:ext cx="384048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1584960"/>
            <a:ext cx="1261872" cy="66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322576" y="1584960"/>
            <a:ext cx="6199632" cy="66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Selected ICU cohorts limit generalizability.</a:t>
            </a:r>
            <a:endParaRPr lang="en-US" sz="1600" dirty="0"/>
          </a:p>
        </p:txBody>
      </p:sp>
      <p:sp>
        <p:nvSpPr>
          <p:cNvPr id="17" name="role-contract-slot:decision:ledger-1"/>
          <p:cNvSpPr/>
          <p:nvPr/>
        </p:nvSpPr>
        <p:spPr>
          <a:xfrm>
            <a:off x="457200" y="2323719"/>
            <a:ext cx="8229600" cy="738759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23719"/>
            <a:ext cx="73152" cy="738759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9" name="metadata:decision-index-1"/>
          <p:cNvSpPr txBox="1"/>
          <p:nvPr/>
        </p:nvSpPr>
        <p:spPr>
          <a:xfrm>
            <a:off x="658368" y="2396871"/>
            <a:ext cx="384048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2360295"/>
            <a:ext cx="1261872" cy="66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Comparability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322576" y="2360295"/>
            <a:ext cx="6199632" cy="66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Family structure, referral criteria, pipelines, and TAT definitions differ.</a:t>
            </a:r>
            <a:endParaRPr lang="en-US" sz="1600" dirty="0"/>
          </a:p>
        </p:txBody>
      </p:sp>
      <p:sp>
        <p:nvSpPr>
          <p:cNvPr id="22" name="role-contract-slot:decision:ledger-2"/>
          <p:cNvSpPr/>
          <p:nvPr/>
        </p:nvSpPr>
        <p:spPr>
          <a:xfrm>
            <a:off x="457200" y="3099054"/>
            <a:ext cx="8229600" cy="738759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99054"/>
            <a:ext cx="73152" cy="738759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4" name="metadata:decision-index-2"/>
          <p:cNvSpPr txBox="1"/>
          <p:nvPr/>
        </p:nvSpPr>
        <p:spPr>
          <a:xfrm>
            <a:off x="658368" y="3172206"/>
            <a:ext cx="384048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" y="3135630"/>
            <a:ext cx="1261872" cy="66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322576" y="3135630"/>
            <a:ext cx="6199632" cy="66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Diagnosis and care change are reported; survival, stay, and cost are not.</a:t>
            </a:r>
            <a:endParaRPr lang="en-US" sz="1600" dirty="0"/>
          </a:p>
        </p:txBody>
      </p:sp>
      <p:sp>
        <p:nvSpPr>
          <p:cNvPr id="27" name="role-contract-slot:decision:ledger-3"/>
          <p:cNvSpPr/>
          <p:nvPr/>
        </p:nvSpPr>
        <p:spPr>
          <a:xfrm>
            <a:off x="457200" y="3874389"/>
            <a:ext cx="8229600" cy="738759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74389"/>
            <a:ext cx="73152" cy="738759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metadata:decision-index-3"/>
          <p:cNvSpPr txBox="1"/>
          <p:nvPr/>
        </p:nvSpPr>
        <p:spPr>
          <a:xfrm>
            <a:off x="658368" y="3947541"/>
            <a:ext cx="384048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" y="3910965"/>
            <a:ext cx="1261872" cy="66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322576" y="3910965"/>
            <a:ext cx="6199632" cy="66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DNA quality, interpretation coverage, confirmation, and governance remain local.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S1; S2; S3</a:t>
            </a:r>
            <a:endParaRPr lang="en-US" sz="900" dirty="0"/>
          </a:p>
        </p:txBody>
      </p:sp>
      <p:sp>
        <p:nvSpPr>
          <p:cNvPr id="3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Move from evidence signal to a bounded implementation study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10056"/>
            <a:ext cx="4046220" cy="274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1436" y="1219200"/>
            <a:ext cx="4055364" cy="12802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role-contract-slot:comparison:option-0"/>
          <p:cNvSpPr/>
          <p:nvPr/>
        </p:nvSpPr>
        <p:spPr>
          <a:xfrm>
            <a:off x="457200" y="1548384"/>
            <a:ext cx="3950208" cy="1961449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48384"/>
            <a:ext cx="64008" cy="1961449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" y="2170968"/>
            <a:ext cx="1088136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supports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801368" y="1971324"/>
            <a:ext cx="24597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SNV benchmark accuracy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Faster in S3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Phase + methylation</a:t>
            </a:r>
            <a:endParaRPr lang="en-US" sz="1500" dirty="0"/>
          </a:p>
        </p:txBody>
      </p:sp>
      <p:sp>
        <p:nvSpPr>
          <p:cNvPr id="15" name="role-contract-slot:comparison:option-1"/>
          <p:cNvSpPr/>
          <p:nvPr/>
        </p:nvSpPr>
        <p:spPr>
          <a:xfrm>
            <a:off x="4736592" y="1548384"/>
            <a:ext cx="3950208" cy="1961449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1548384"/>
            <a:ext cx="64008" cy="1961449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2896" y="1949988"/>
            <a:ext cx="1088136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validation must establish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2085624"/>
            <a:ext cx="2459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Local sensitivity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Receipt-to-report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Utility + cost</a:t>
            </a:r>
            <a:endParaRPr lang="en-US" sz="1500" dirty="0"/>
          </a:p>
        </p:txBody>
      </p:sp>
      <p:sp>
        <p:nvSpPr>
          <p:cNvPr id="19" name="role-contract-slot:comparison:verdict"/>
          <p:cNvSpPr/>
          <p:nvPr/>
        </p:nvSpPr>
        <p:spPr>
          <a:xfrm>
            <a:off x="1938528" y="3625596"/>
            <a:ext cx="5266944" cy="987552"/>
          </a:xfrm>
          <a:prstGeom prst="rect">
            <a:avLst/>
          </a:prstGeom>
          <a:solidFill>
            <a:srgbClr val="171717"/>
          </a:solidFill>
          <a:ln w="8255">
            <a:solidFill>
              <a:srgbClr val="B423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29968" y="3727323"/>
            <a:ext cx="5084064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a prospective local service study with frozen eligibility, turnaround, utility, and management endpoints.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S1; S2; S3</a:t>
            </a:r>
            <a:endParaRPr lang="en-US" sz="900" dirty="0"/>
          </a:p>
        </p:txBody>
      </p:sp>
      <p:sp>
        <p:nvSpPr>
          <p:cNvPr id="2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4D4D4">
              <a:alpha val="82000"/>
            </a:srgbClr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sources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712927"/>
            <a:ext cx="2377440" cy="3109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723900"/>
            <a:ext cx="5742432" cy="12802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4214"/>
          <a:ext cx="8229600" cy="2264201"/>
        </p:xfrm>
        <a:graphic>
          <a:graphicData uri="http://schemas.openxmlformats.org/drawingml/2006/table">
            <a:tbl>
              <a:tblPr/>
              <a:tblGrid>
                <a:gridCol w="460040"/>
                <a:gridCol w="2453545"/>
                <a:gridCol w="1942390"/>
                <a:gridCol w="3373625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Study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DOI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Evidence used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Nyaga et al. (2024), npj Genom Med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10.1038/s41525-024-00445-5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Accuracy, CNV, methylation, trio workflow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S2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Kamolvisit et al. (2025), EJHG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10.1038/s41431-025-01818-9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Yield, TAT, SVs, phasing, reclassification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S3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Smits et al. (2025), EJHG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10.1038/s41431-025-01959-x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TAT, yield, methylation, test burden, care change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1053084"/>
            <a:ext cx="8229600" cy="420088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4"/>
            </a:solidFill>
            <a:prstDash val="solid"/>
          </a:ln>
        </p:spPr>
      </p:sp>
      <p:sp>
        <p:nvSpPr>
          <p:cNvPr id="13" name="metadata:table-index-label"/>
          <p:cNvSpPr txBox="1"/>
          <p:nvPr/>
        </p:nvSpPr>
        <p:spPr>
          <a:xfrm>
            <a:off x="566928" y="1126236"/>
            <a:ext cx="2039112" cy="27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INDEX</a:t>
            </a:r>
            <a:endParaRPr lang="en-US" sz="900" dirty="0"/>
          </a:p>
        </p:txBody>
      </p:sp>
      <p:sp>
        <p:nvSpPr>
          <p:cNvPr id="14" name="metadata:table-index-detail"/>
          <p:cNvSpPr txBox="1"/>
          <p:nvPr/>
        </p:nvSpPr>
        <p:spPr>
          <a:xfrm>
            <a:off x="2697480" y="1144524"/>
            <a:ext cx="5879592" cy="23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sources  |  ID · Study · DOI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3979457"/>
            <a:ext cx="8229600" cy="590971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4"/>
            </a:solidFill>
            <a:prstDash val="solid"/>
          </a:ln>
        </p:spPr>
      </p:sp>
      <p:sp>
        <p:nvSpPr>
          <p:cNvPr id="16" name="metadata:table-notes-label"/>
          <p:cNvSpPr txBox="1"/>
          <p:nvPr/>
        </p:nvSpPr>
        <p:spPr>
          <a:xfrm>
            <a:off x="566928" y="4052609"/>
            <a:ext cx="1700784" cy="4446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NOTES</a:t>
            </a:r>
            <a:endParaRPr lang="en-US" sz="900" dirty="0"/>
          </a:p>
        </p:txBody>
      </p:sp>
      <p:sp>
        <p:nvSpPr>
          <p:cNvPr id="17" name="metadata:reference-notes"/>
          <p:cNvSpPr txBox="1"/>
          <p:nvPr/>
        </p:nvSpPr>
        <p:spPr>
          <a:xfrm>
            <a:off x="2359152" y="4052609"/>
            <a:ext cx="6217920" cy="4446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reports; metrics transcribed from article text or PubMed.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 Genomics for ICU Care</dc:title>
  <dc:subject>What three recent nanopore long-read studies show about analytical validity, turnaround time, and clinical utility</dc:subject>
  <dc:creator>Presentation Team</dc:creator>
  <cp:lastModifiedBy>Presentation Team</cp:lastModifiedBy>
  <cp:revision>1</cp:revision>
  <dcterms:created xsi:type="dcterms:W3CDTF">2026-08-24T03:20:48Z</dcterms:created>
  <dcterms:modified xsi:type="dcterms:W3CDTF">2026-08-24T03:20:48Z</dcterms:modified>
</cp:coreProperties>
</file>